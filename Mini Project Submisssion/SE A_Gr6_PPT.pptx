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9B71B5-55E2-4BC0-B6EF-A8BCC90A9DC9}">
  <a:tblStyle styleId="{259B71B5-55E2-4BC0-B6EF-A8BCC90A9DC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tableStyles" Target="tableStyles.xml" /><Relationship Id="rId3" Type="http://schemas.openxmlformats.org/officeDocument/2006/relationships/slide" Target="slides/slide1.xml" /><Relationship Id="rId7" Type="http://schemas.openxmlformats.org/officeDocument/2006/relationships/slide" Target="slides/slide5.xml" /><Relationship Id="rId12" Type="http://schemas.openxmlformats.org/officeDocument/2006/relationships/theme" Target="theme/theme1.xml" /><Relationship Id="rId2" Type="http://schemas.openxmlformats.org/officeDocument/2006/relationships/slideMaster" Target="slideMasters/slideMaster2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viewProps" Target="viewProps.xml" /><Relationship Id="rId5" Type="http://schemas.openxmlformats.org/officeDocument/2006/relationships/slide" Target="slides/slide3.xml" /><Relationship Id="rId10" Type="http://schemas.openxmlformats.org/officeDocument/2006/relationships/presProps" Target="presProps.xml" /><Relationship Id="rId4" Type="http://schemas.openxmlformats.org/officeDocument/2006/relationships/slide" Target="slides/slide2.xml" /><Relationship Id="rId9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dd08e6409_2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bdd08e6409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dd08e6409_2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bdd08e6409_2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dd08e6409_2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3bdd08e6409_2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dd08e6409_2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bdd08e6409_2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dd08e6409_2_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bdd08e6409_2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dd08e6409_2_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bdd08e6409_2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 /><Relationship Id="rId3" Type="http://schemas.openxmlformats.org/officeDocument/2006/relationships/slideLayout" Target="../slideLayouts/slideLayout14.xml" /><Relationship Id="rId7" Type="http://schemas.openxmlformats.org/officeDocument/2006/relationships/slideLayout" Target="../slideLayouts/slideLayout18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3.xml" /><Relationship Id="rId1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7.xml" /><Relationship Id="rId11" Type="http://schemas.openxmlformats.org/officeDocument/2006/relationships/slideLayout" Target="../slideLayouts/slideLayout22.xml" /><Relationship Id="rId5" Type="http://schemas.openxmlformats.org/officeDocument/2006/relationships/slideLayout" Target="../slideLayouts/slideLayout16.xml" /><Relationship Id="rId10" Type="http://schemas.openxmlformats.org/officeDocument/2006/relationships/slideLayout" Target="../slideLayouts/slideLayout21.xml" /><Relationship Id="rId4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2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dgs.un.org/goals/goal12" TargetMode="External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1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3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3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3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estopedia.com/terms/i/inventory-management.asp" TargetMode="External" /><Relationship Id="rId7" Type="http://schemas.openxmlformats.org/officeDocument/2006/relationships/hyperlink" Target="https://sdgs.un.org/goals/goal12" TargetMode="External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3.xml" /><Relationship Id="rId6" Type="http://schemas.openxmlformats.org/officeDocument/2006/relationships/hyperlink" Target="https://sdgs.un.org/goals/goal9" TargetMode="External" /><Relationship Id="rId5" Type="http://schemas.openxmlformats.org/officeDocument/2006/relationships/hyperlink" Target="https://ieeexplore.ieee.org/" TargetMode="External" /><Relationship Id="rId4" Type="http://schemas.openxmlformats.org/officeDocument/2006/relationships/hyperlink" Target="https://www.gs1.org/standards/barcodes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ctrTitle"/>
          </p:nvPr>
        </p:nvSpPr>
        <p:spPr>
          <a:xfrm>
            <a:off x="248463" y="1173814"/>
            <a:ext cx="8647071" cy="3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" sz="2100" b="1"/>
              <a:t>A Real-Time Barcode-Enabled Inventory Tracking System</a:t>
            </a:r>
            <a:endParaRPr sz="3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589934" y="1591780"/>
            <a:ext cx="7964100" cy="31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marR="0" lvl="0" indent="-215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Theme- </a:t>
            </a:r>
            <a:r>
              <a:rPr lang="en" sz="1800" b="1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SDG 9 – Industry, Innovation and Infrastructure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5900" marR="0" lvl="0" indent="-215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Category- Software</a:t>
            </a:r>
            <a:endParaRPr sz="1100"/>
          </a:p>
          <a:p>
            <a:pPr marL="215900" marR="0" lvl="0" indent="-215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No - 6</a:t>
            </a:r>
            <a:endParaRPr sz="1100"/>
          </a:p>
          <a:p>
            <a:pPr marL="215900" marR="0" lvl="0" indent="-215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Members- Aakshat Mukkawar, Rohit Nahar, Tejas Vinay Maske, Atharva Mayekar</a:t>
            </a:r>
            <a:endParaRPr sz="1100"/>
          </a:p>
          <a:p>
            <a:pPr marL="215900" marR="0" lvl="0" indent="-215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Guide- Viki Patil Sir</a:t>
            </a:r>
            <a:endParaRPr sz="1100"/>
          </a:p>
        </p:txBody>
      </p:sp>
      <p:sp>
        <p:nvSpPr>
          <p:cNvPr id="131" name="Google Shape;131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Project Topic Approval </a:t>
            </a:r>
            <a:endParaRPr/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68287" y="119351"/>
            <a:ext cx="4555249" cy="863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Mini Project Topic Approval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403689" y="227011"/>
            <a:ext cx="8170607" cy="59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 sz="2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41" name="Google Shape;141;p26"/>
          <p:cNvSpPr txBox="1">
            <a:spLocks noGrp="1"/>
          </p:cNvSpPr>
          <p:nvPr>
            <p:ph type="body" idx="1"/>
          </p:nvPr>
        </p:nvSpPr>
        <p:spPr>
          <a:xfrm>
            <a:off x="487837" y="817041"/>
            <a:ext cx="4524866" cy="3950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Overview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 web-based inventory management system for small retail shops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Replaces manual stock registers with a digital, barcode-driven system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Designed to be lightweight, affordable, and easy to deploy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Data Management &amp; Context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Centralized database stores product, category, and stock information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Each product is mapped to a unique SKU and barcode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Additional context stored:</a:t>
            </a:r>
            <a:endParaRPr/>
          </a:p>
          <a:p>
            <a:pPr marL="863600" lvl="2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Category</a:t>
            </a:r>
            <a:endParaRPr/>
          </a:p>
          <a:p>
            <a:pPr marL="863600" lvl="2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Shelf number (physical location)</a:t>
            </a:r>
            <a:endParaRPr/>
          </a:p>
          <a:p>
            <a:pPr marL="863600" lvl="2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Reorder level for low-stock alerts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Identification &amp; Stock Operations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Barcode generated automatically for each product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Camera-based barcode scanning using OpenCV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All stock changes logged with timestamps for traceability</a:t>
            </a:r>
            <a:endParaRPr/>
          </a:p>
        </p:txBody>
      </p:sp>
      <p:pic>
        <p:nvPicPr>
          <p:cNvPr id="142" name="Google Shape;142;p26" descr="white background and something that fits in the empty space like the preveious image"/>
          <p:cNvPicPr preferRelativeResize="0"/>
          <p:nvPr/>
        </p:nvPicPr>
        <p:blipFill rotWithShape="1">
          <a:blip r:embed="rId3">
            <a:alphaModFix/>
          </a:blip>
          <a:srcRect t="8792" b="11348"/>
          <a:stretch/>
        </p:blipFill>
        <p:spPr>
          <a:xfrm>
            <a:off x="4915975" y="1202975"/>
            <a:ext cx="4054300" cy="335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>
            <a:spLocks noGrp="1"/>
          </p:cNvSpPr>
          <p:nvPr>
            <p:ph type="title"/>
          </p:nvPr>
        </p:nvSpPr>
        <p:spPr>
          <a:xfrm>
            <a:off x="577031" y="197874"/>
            <a:ext cx="7886700" cy="625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 sz="24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48" name="Google Shape;148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Project Topic Approval </a:t>
            </a:r>
            <a:endParaRPr/>
          </a:p>
        </p:txBody>
      </p:sp>
      <p:sp>
        <p:nvSpPr>
          <p:cNvPr id="149" name="Google Shape;149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50" name="Google Shape;150;p27"/>
          <p:cNvSpPr txBox="1">
            <a:spLocks noGrp="1"/>
          </p:cNvSpPr>
          <p:nvPr>
            <p:ph type="body" idx="1"/>
          </p:nvPr>
        </p:nvSpPr>
        <p:spPr>
          <a:xfrm>
            <a:off x="487837" y="817041"/>
            <a:ext cx="4524866" cy="3950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Technologies Used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Backend: Python (Flask)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Database: SQLite / MySQL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Frontend: HTML, CSS, JavaScript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Barcode Generation: python-barcode, qrcode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Barcode Scanning: OpenCV + pyzbar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ORM: SQLAlchemy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System Workflow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Product added → barcode generated automatically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Barcode scanned via webcam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Product details fetched from database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Stock updated based on buy / sell / return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Changes logged in stock history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Modular architecture (Frontend + Backend + Database)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REST APIs for communication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CRUD-based implementation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Incremental feature development</a:t>
            </a:r>
            <a:endParaRPr/>
          </a:p>
        </p:txBody>
      </p:sp>
      <p:pic>
        <p:nvPicPr>
          <p:cNvPr id="151" name="Google Shape;15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53674" y="817050"/>
            <a:ext cx="3950200" cy="395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633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 sz="24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Project Topic Approval </a:t>
            </a:r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body" idx="1"/>
          </p:nvPr>
        </p:nvSpPr>
        <p:spPr>
          <a:xfrm>
            <a:off x="268664" y="979657"/>
            <a:ext cx="4303337" cy="3950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Feasibility</a:t>
            </a:r>
            <a:endParaRPr/>
          </a:p>
          <a:p>
            <a:pPr marL="52070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Uses open-source libraries and tools</a:t>
            </a:r>
            <a:endParaRPr/>
          </a:p>
          <a:p>
            <a:pPr marL="52070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Can be developed on a normal laptop</a:t>
            </a:r>
            <a:endParaRPr/>
          </a:p>
          <a:p>
            <a:pPr marL="52070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Requires only a webcam for scanning</a:t>
            </a:r>
            <a:endParaRPr/>
          </a:p>
          <a:p>
            <a:pPr marL="52070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Simple CRUD-based logic, easy to implement</a:t>
            </a:r>
            <a:endParaRPr/>
          </a:p>
          <a:p>
            <a:pPr marL="520700" lvl="1" indent="-63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Viability</a:t>
            </a:r>
            <a:endParaRPr/>
          </a:p>
          <a:p>
            <a:pPr marL="52070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Suitable for small retail shops and local businesses</a:t>
            </a:r>
            <a:endParaRPr/>
          </a:p>
          <a:p>
            <a:pPr marL="52070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Can be extended for billing, analytics, and reporting</a:t>
            </a:r>
            <a:endParaRPr/>
          </a:p>
          <a:p>
            <a:pPr marL="52070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Scalable to multi-user and multi-store environments</a:t>
            </a:r>
            <a:endParaRPr/>
          </a:p>
          <a:p>
            <a:pPr marL="52070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Practical for real-world deployment</a:t>
            </a: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8"/>
          <p:cNvSpPr txBox="1"/>
          <p:nvPr/>
        </p:nvSpPr>
        <p:spPr>
          <a:xfrm>
            <a:off x="4458881" y="979657"/>
            <a:ext cx="4524866" cy="3950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 sz="21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&amp; Risks</a:t>
            </a:r>
            <a:endParaRPr sz="1100"/>
          </a:p>
          <a:p>
            <a:pPr marL="520700" marR="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Camera-based barcode detection issues</a:t>
            </a:r>
            <a:endParaRPr sz="1100"/>
          </a:p>
          <a:p>
            <a:pPr marL="520700" marR="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Incorrect or duplicate barcode scans</a:t>
            </a:r>
            <a:endParaRPr sz="1100"/>
          </a:p>
          <a:p>
            <a:pPr marL="520700" marR="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 mismatch due to wrong user inputs</a:t>
            </a:r>
            <a:endParaRPr sz="1100"/>
          </a:p>
          <a:p>
            <a:pPr marL="520700" marR="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issues under poor lighting conditions</a:t>
            </a:r>
            <a:endParaRPr sz="1100"/>
          </a:p>
          <a:p>
            <a:pPr marL="342900" marR="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7800" marR="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 sz="21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Mitigation Strategies</a:t>
            </a:r>
            <a:endParaRPr sz="1100"/>
          </a:p>
          <a:p>
            <a:pPr marL="520700" marR="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validation and quantity checks</a:t>
            </a:r>
            <a:endParaRPr sz="1100"/>
          </a:p>
          <a:p>
            <a:pPr marL="520700" marR="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handling and confirmation prompts</a:t>
            </a:r>
            <a:endParaRPr sz="1100"/>
          </a:p>
          <a:p>
            <a:pPr marL="520700" marR="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override and correction options</a:t>
            </a:r>
            <a:endParaRPr sz="1100"/>
          </a:p>
          <a:p>
            <a:pPr marL="520700" marR="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 lighting and scan retry mechanisms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Project Topic Approval </a:t>
            </a:r>
            <a:endParaRPr/>
          </a:p>
        </p:txBody>
      </p:sp>
      <p:sp>
        <p:nvSpPr>
          <p:cNvPr id="166" name="Google Shape;166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67" name="Google Shape;167;p29"/>
          <p:cNvSpPr txBox="1">
            <a:spLocks noGrp="1"/>
          </p:cNvSpPr>
          <p:nvPr>
            <p:ph type="body" idx="1"/>
          </p:nvPr>
        </p:nvSpPr>
        <p:spPr>
          <a:xfrm>
            <a:off x="261592" y="937236"/>
            <a:ext cx="4310408" cy="3950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Target Audience</a:t>
            </a:r>
            <a:endParaRPr/>
          </a:p>
          <a:p>
            <a:pPr marL="52070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Small shop owners</a:t>
            </a:r>
            <a:endParaRPr/>
          </a:p>
          <a:p>
            <a:pPr marL="52070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Retail staff</a:t>
            </a:r>
            <a:endParaRPr/>
          </a:p>
          <a:p>
            <a:pPr marL="52070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Inventory managers</a:t>
            </a:r>
            <a:endParaRPr/>
          </a:p>
          <a:p>
            <a:pPr marL="52070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Store owners transitioning from manual to digital systems</a:t>
            </a: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Social &amp; Economic Benefits</a:t>
            </a:r>
            <a:endParaRPr/>
          </a:p>
          <a:p>
            <a:pPr marL="52070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Supports small businesses</a:t>
            </a:r>
            <a:endParaRPr/>
          </a:p>
          <a:p>
            <a:pPr marL="52070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Reduces operational costs</a:t>
            </a:r>
            <a:endParaRPr/>
          </a:p>
          <a:p>
            <a:pPr marL="52070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Improves efficiency and productivity</a:t>
            </a:r>
            <a:endParaRPr/>
          </a:p>
          <a:p>
            <a:pPr marL="52070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Minimizes stock wastage and losses due to mismanagement</a:t>
            </a: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9"/>
          <p:cNvSpPr txBox="1"/>
          <p:nvPr/>
        </p:nvSpPr>
        <p:spPr>
          <a:xfrm>
            <a:off x="4451809" y="937236"/>
            <a:ext cx="4524866" cy="3950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 sz="21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</a:t>
            </a:r>
            <a:endParaRPr sz="1100"/>
          </a:p>
          <a:p>
            <a:pPr marL="520700" marR="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Time-saving during billing and stock checking</a:t>
            </a:r>
            <a:endParaRPr sz="1100"/>
          </a:p>
          <a:p>
            <a:pPr marL="520700" marR="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stock visibility and control</a:t>
            </a:r>
            <a:endParaRPr sz="1100"/>
          </a:p>
          <a:p>
            <a:pPr marL="520700" marR="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handling of returns</a:t>
            </a:r>
            <a:endParaRPr sz="1100"/>
          </a:p>
          <a:p>
            <a:pPr marL="520700" marR="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organization using category and shelf-based tracking</a:t>
            </a:r>
            <a:endParaRPr sz="1100"/>
          </a:p>
          <a:p>
            <a:pPr marL="177800" marR="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7800" marR="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 sz="21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</a:t>
            </a:r>
            <a:endParaRPr sz="1100"/>
          </a:p>
          <a:p>
            <a:pPr marL="520700" marR="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product identification</a:t>
            </a:r>
            <a:endParaRPr sz="1100"/>
          </a:p>
          <a:p>
            <a:pPr marL="520700" marR="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inventory accuracy</a:t>
            </a:r>
            <a:endParaRPr sz="1100"/>
          </a:p>
          <a:p>
            <a:pPr marL="520700" marR="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Reduced operational errors</a:t>
            </a:r>
            <a:endParaRPr sz="1100"/>
          </a:p>
          <a:p>
            <a:pPr marL="520700" marR="0" lvl="1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visibility into inventory status</a:t>
            </a:r>
            <a:endParaRPr sz="1100"/>
          </a:p>
        </p:txBody>
      </p:sp>
      <p:sp>
        <p:nvSpPr>
          <p:cNvPr id="169" name="Google Shape;169;p2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633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 sz="2400" b="1">
                <a:latin typeface="Times New Roman"/>
                <a:ea typeface="Times New Roman"/>
                <a:cs typeface="Times New Roman"/>
                <a:sym typeface="Times New Roman"/>
              </a:rPr>
              <a:t>Impacts and Benefits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Project Topic Approval </a:t>
            </a:r>
            <a:endParaRPr/>
          </a:p>
        </p:txBody>
      </p:sp>
      <p:sp>
        <p:nvSpPr>
          <p:cNvPr id="175" name="Google Shape;175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76" name="Google Shape;176;p3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633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 sz="2400" b="1">
                <a:latin typeface="Times New Roman"/>
                <a:ea typeface="Times New Roman"/>
                <a:cs typeface="Times New Roman"/>
                <a:sym typeface="Times New Roman"/>
              </a:rPr>
              <a:t>Research and References</a:t>
            </a:r>
            <a:endParaRPr/>
          </a:p>
        </p:txBody>
      </p:sp>
      <p:graphicFrame>
        <p:nvGraphicFramePr>
          <p:cNvPr id="177" name="Google Shape;177;p30"/>
          <p:cNvGraphicFramePr/>
          <p:nvPr/>
        </p:nvGraphicFramePr>
        <p:xfrm>
          <a:off x="628650" y="108879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{259B71B5-55E2-4BC0-B6EF-A8BCC90A9DC9}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/>
                        <a:t>Source</a:t>
                      </a:r>
                      <a:endParaRPr sz="1100"/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/>
                        <a:t>Link</a:t>
                      </a:r>
                      <a:endParaRPr sz="1100"/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Inventory Management – Concepts &amp; Importance</a:t>
                      </a:r>
                      <a:endParaRPr sz="1100"/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sng" strike="noStrike" cap="none">
                          <a:solidFill>
                            <a:schemeClr val="hlink"/>
                          </a:solidFill>
                          <a:hlinkClick r:id="rId3"/>
                        </a:rPr>
                        <a:t>https://www.investopedia.com/terms/i/inventory-management.asp</a:t>
                      </a:r>
                      <a:endParaRPr sz="1400" u="none" strike="noStrike" cap="none"/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Barcode Standards and Identification</a:t>
                      </a:r>
                      <a:endParaRPr sz="1100"/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sng" strike="noStrike" cap="none">
                          <a:solidFill>
                            <a:schemeClr val="hlink"/>
                          </a:solidFill>
                          <a:hlinkClick r:id="rId4"/>
                        </a:rPr>
                        <a:t>https://www.gs1.org/standards/barcodes</a:t>
                      </a:r>
                      <a:endParaRPr sz="1400" u="none" strike="noStrike" cap="none"/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Barcode-Based Inventory Systems (IEEE)</a:t>
                      </a:r>
                      <a:endParaRPr sz="1100"/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sng" strike="noStrike" cap="none">
                          <a:solidFill>
                            <a:schemeClr val="hlink"/>
                          </a:solidFill>
                          <a:hlinkClick r:id="rId5"/>
                        </a:rPr>
                        <a:t>https://ieeexplore.ieee.org</a:t>
                      </a:r>
                      <a:endParaRPr sz="1400" u="none" strike="noStrike" cap="none"/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3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UN SDG 9 – Industry, Innovation &amp; Infrastructure</a:t>
                      </a:r>
                      <a:endParaRPr sz="1400" u="none" strike="noStrike" cap="none"/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sng" strike="noStrike" cap="none">
                          <a:solidFill>
                            <a:schemeClr val="hlink"/>
                          </a:solidFill>
                          <a:hlinkClick r:id="rId6"/>
                        </a:rPr>
                        <a:t>https://sdgs.un.org/goals/goal9</a:t>
                      </a:r>
                      <a:endParaRPr sz="1400" u="none" strike="noStrike" cap="none"/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3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UN SDG 12 – Responsible Consumption &amp; Production</a:t>
                      </a:r>
                      <a:endParaRPr sz="1400" u="none" strike="noStrike" cap="none"/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sng" strike="noStrike" cap="none">
                          <a:solidFill>
                            <a:schemeClr val="hlink"/>
                          </a:solidFill>
                          <a:hlinkClick r:id="rId7"/>
                        </a:rPr>
                        <a:t>https://sdgs.un.org/goals/goal12</a:t>
                      </a:r>
                      <a:endParaRPr sz="1400" u="none" strike="noStrike" cap="none"/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Simple Light</vt:lpstr>
      <vt:lpstr>Office Theme</vt:lpstr>
      <vt:lpstr>A Real-Time Barcode-Enabled Inventory Tracking System</vt:lpstr>
      <vt:lpstr>PowerPoint Presentation</vt:lpstr>
      <vt:lpstr>Technical Approach</vt:lpstr>
      <vt:lpstr>Feasibility and Viability</vt:lpstr>
      <vt:lpstr>Impacts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Real-Time Barcode-Enabled Inventory Tracking System</dc:title>
  <cp:lastModifiedBy>Tejas Vinay Maske</cp:lastModifiedBy>
  <cp:revision>1</cp:revision>
  <dcterms:modified xsi:type="dcterms:W3CDTF">2026-04-16T10:14:13Z</dcterms:modified>
</cp:coreProperties>
</file>